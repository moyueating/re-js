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2" r:id="rId3"/>
    <p:sldId id="257" r:id="rId4"/>
    <p:sldId id="265" r:id="rId5"/>
    <p:sldId id="258" r:id="rId6"/>
    <p:sldId id="261" r:id="rId7"/>
    <p:sldId id="263" r:id="rId8"/>
    <p:sldId id="264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602"/>
    <p:restoredTop sz="94692"/>
  </p:normalViewPr>
  <p:slideViewPr>
    <p:cSldViewPr snapToGrid="0" snapToObjects="1">
      <p:cViewPr varScale="1">
        <p:scale>
          <a:sx n="90" d="100"/>
          <a:sy n="90" d="100"/>
        </p:scale>
        <p:origin x="232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 smtClean="0"/>
              <a:t>单击此处编辑母版副标题样式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C2E37-53F4-8849-81F7-873A2BFD7223}" type="datetimeFigureOut">
              <a:rPr kumimoji="1" lang="zh-CN" altLang="en-US" smtClean="0"/>
              <a:t>2021/1/28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63509-1B8F-9640-B8AE-4BA1A355B35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297528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C2E37-53F4-8849-81F7-873A2BFD7223}" type="datetimeFigureOut">
              <a:rPr kumimoji="1" lang="zh-CN" altLang="en-US" smtClean="0"/>
              <a:t>2021/1/28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63509-1B8F-9640-B8AE-4BA1A355B35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856068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C2E37-53F4-8849-81F7-873A2BFD7223}" type="datetimeFigureOut">
              <a:rPr kumimoji="1" lang="zh-CN" altLang="en-US" smtClean="0"/>
              <a:t>2021/1/28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63509-1B8F-9640-B8AE-4BA1A355B35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56418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C2E37-53F4-8849-81F7-873A2BFD7223}" type="datetimeFigureOut">
              <a:rPr kumimoji="1" lang="zh-CN" altLang="en-US" smtClean="0"/>
              <a:t>2021/1/28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63509-1B8F-9640-B8AE-4BA1A355B35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059343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C2E37-53F4-8849-81F7-873A2BFD7223}" type="datetimeFigureOut">
              <a:rPr kumimoji="1" lang="zh-CN" altLang="en-US" smtClean="0"/>
              <a:t>2021/1/28</a:t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幻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63509-1B8F-9640-B8AE-4BA1A355B35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80104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C2E37-53F4-8849-81F7-873A2BFD7223}" type="datetimeFigureOut">
              <a:rPr kumimoji="1" lang="zh-CN" altLang="en-US" smtClean="0"/>
              <a:t>2021/1/28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63509-1B8F-9640-B8AE-4BA1A355B35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437766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C2E37-53F4-8849-81F7-873A2BFD7223}" type="datetimeFigureOut">
              <a:rPr kumimoji="1" lang="zh-CN" altLang="en-US" smtClean="0"/>
              <a:t>2021/1/28</a:t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63509-1B8F-9640-B8AE-4BA1A355B35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400742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C2E37-53F4-8849-81F7-873A2BFD7223}" type="datetimeFigureOut">
              <a:rPr kumimoji="1" lang="zh-CN" altLang="en-US" smtClean="0"/>
              <a:t>2021/1/28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63509-1B8F-9640-B8AE-4BA1A355B35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2871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C2E37-53F4-8849-81F7-873A2BFD7223}" type="datetimeFigureOut">
              <a:rPr kumimoji="1" lang="zh-CN" altLang="en-US" smtClean="0"/>
              <a:t>2021/1/28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63509-1B8F-9640-B8AE-4BA1A355B35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068367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竖排文本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C2E37-53F4-8849-81F7-873A2BFD7223}" type="datetimeFigureOut">
              <a:rPr kumimoji="1" lang="zh-CN" altLang="en-US" smtClean="0"/>
              <a:t>2021/1/28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63509-1B8F-9640-B8AE-4BA1A355B35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988836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竖排文本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C2E37-53F4-8849-81F7-873A2BFD7223}" type="datetimeFigureOut">
              <a:rPr kumimoji="1" lang="zh-CN" altLang="en-US" smtClean="0"/>
              <a:t>2021/1/28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63509-1B8F-9640-B8AE-4BA1A355B35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539564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CC2E37-53F4-8849-81F7-873A2BFD7223}" type="datetimeFigureOut">
              <a:rPr kumimoji="1" lang="zh-CN" altLang="en-US" smtClean="0"/>
              <a:t>2021/1/28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363509-1B8F-9640-B8AE-4BA1A355B35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017915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zh-CN" b="1" dirty="0" err="1" smtClean="0"/>
              <a:t>webpack</a:t>
            </a:r>
            <a:endParaRPr kumimoji="1" lang="zh-CN" altLang="en-US" b="1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86378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34210"/>
          </a:xfrm>
        </p:spPr>
        <p:txBody>
          <a:bodyPr>
            <a:normAutofit/>
          </a:bodyPr>
          <a:lstStyle/>
          <a:p>
            <a:r>
              <a:rPr kumimoji="1" lang="zh-CN" altLang="en-US" sz="3200" b="1" dirty="0"/>
              <a:t>初始化阶段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46373" y="1099336"/>
            <a:ext cx="4792305" cy="5078413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250140"/>
            <a:ext cx="5549102" cy="4776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4526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75306"/>
          </a:xfrm>
        </p:spPr>
        <p:txBody>
          <a:bodyPr>
            <a:normAutofit/>
          </a:bodyPr>
          <a:lstStyle/>
          <a:p>
            <a:r>
              <a:rPr kumimoji="1" lang="zh-CN" altLang="en-US" sz="3200" b="1" dirty="0" smtClean="0"/>
              <a:t>参数配置介绍</a:t>
            </a:r>
            <a:endParaRPr kumimoji="1" lang="zh-CN" altLang="en-US" sz="3200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339846"/>
            <a:ext cx="10515600" cy="4837117"/>
          </a:xfrm>
        </p:spPr>
        <p:txBody>
          <a:bodyPr/>
          <a:lstStyle/>
          <a:p>
            <a:r>
              <a:rPr kumimoji="1" lang="en-US" altLang="zh-CN" sz="2400" dirty="0"/>
              <a:t>e</a:t>
            </a:r>
            <a:r>
              <a:rPr kumimoji="1" lang="en-US" altLang="zh-CN" sz="2400" dirty="0" smtClean="0"/>
              <a:t>ntry</a:t>
            </a:r>
          </a:p>
          <a:p>
            <a:endParaRPr lang="en-US" altLang="zh-CN" sz="2000" dirty="0" smtClean="0"/>
          </a:p>
          <a:p>
            <a:endParaRPr lang="en-US" altLang="zh-CN" sz="2000" dirty="0"/>
          </a:p>
          <a:p>
            <a:endParaRPr lang="en-US" altLang="zh-CN" sz="2000" dirty="0" smtClean="0"/>
          </a:p>
          <a:p>
            <a:endParaRPr lang="en-US" altLang="zh-CN" sz="2000" dirty="0"/>
          </a:p>
          <a:p>
            <a:endParaRPr lang="en-US" altLang="zh-CN" sz="2000" dirty="0" smtClean="0"/>
          </a:p>
          <a:p>
            <a:r>
              <a:rPr lang="en-US" altLang="zh-CN" sz="2000" dirty="0" smtClean="0"/>
              <a:t>Output</a:t>
            </a:r>
          </a:p>
          <a:p>
            <a:endParaRPr kumimoji="1" lang="en-US" altLang="zh-CN" sz="2000" dirty="0">
              <a:latin typeface="+mn-ea"/>
            </a:endParaRPr>
          </a:p>
          <a:p>
            <a:endParaRPr lang="en-US" altLang="zh-CN" sz="2000" dirty="0"/>
          </a:p>
          <a:p>
            <a:endParaRPr kumimoji="1" lang="en-US" altLang="zh-CN" sz="2000" dirty="0" smtClean="0">
              <a:latin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289" y="1713704"/>
            <a:ext cx="8966200" cy="20447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289" y="4228030"/>
            <a:ext cx="8318500" cy="255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49211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2291"/>
          </a:xfrm>
        </p:spPr>
        <p:txBody>
          <a:bodyPr>
            <a:normAutofit/>
          </a:bodyPr>
          <a:lstStyle/>
          <a:p>
            <a:r>
              <a:rPr kumimoji="1" lang="en-US" altLang="zh-CN" sz="3200" b="1" dirty="0" smtClean="0"/>
              <a:t>mode</a:t>
            </a:r>
            <a:endParaRPr kumimoji="1" lang="zh-CN" altLang="en-US" sz="3200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838200" y="1181528"/>
            <a:ext cx="59057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dirty="0" smtClean="0">
                <a:latin typeface="+mn-ea"/>
              </a:rPr>
              <a:t>可选的是</a:t>
            </a:r>
            <a:r>
              <a:rPr kumimoji="1" lang="en-US" altLang="zh-CN" sz="2400" dirty="0" smtClean="0">
                <a:latin typeface="+mn-ea"/>
              </a:rPr>
              <a:t>development</a:t>
            </a:r>
            <a:r>
              <a:rPr kumimoji="1" lang="zh-CN" altLang="en-US" sz="2400" dirty="0" smtClean="0">
                <a:latin typeface="+mn-ea"/>
              </a:rPr>
              <a:t>，</a:t>
            </a:r>
            <a:r>
              <a:rPr kumimoji="1" lang="en-US" altLang="zh-CN" sz="2400" dirty="0" smtClean="0">
                <a:latin typeface="+mn-ea"/>
              </a:rPr>
              <a:t>production</a:t>
            </a:r>
            <a:r>
              <a:rPr kumimoji="1" lang="zh-CN" altLang="en-US" sz="2400" dirty="0" smtClean="0">
                <a:latin typeface="+mn-ea"/>
              </a:rPr>
              <a:t>，</a:t>
            </a:r>
            <a:r>
              <a:rPr kumimoji="1" lang="en-US" altLang="zh-CN" sz="2400" dirty="0" smtClean="0">
                <a:latin typeface="+mn-ea"/>
              </a:rPr>
              <a:t>none</a:t>
            </a:r>
            <a:endParaRPr kumimoji="1" lang="zh-CN" altLang="en-US" sz="2400" dirty="0">
              <a:latin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797305"/>
            <a:ext cx="8839200" cy="373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6760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149003"/>
            <a:ext cx="10515600" cy="5164959"/>
          </a:xfrm>
        </p:spPr>
        <p:txBody>
          <a:bodyPr>
            <a:normAutofit lnSpcReduction="10000"/>
          </a:bodyPr>
          <a:lstStyle/>
          <a:p>
            <a:endParaRPr lang="en-US" altLang="zh-CN" sz="2400" dirty="0"/>
          </a:p>
          <a:p>
            <a:endParaRPr kumimoji="1" lang="en-US" altLang="zh-CN" dirty="0" smtClean="0"/>
          </a:p>
          <a:p>
            <a:endParaRPr kumimoji="1" lang="en-US" altLang="zh-CN" dirty="0"/>
          </a:p>
          <a:p>
            <a:endParaRPr kumimoji="1" lang="en-US" altLang="zh-CN" dirty="0" smtClean="0"/>
          </a:p>
          <a:p>
            <a:endParaRPr kumimoji="1" lang="en-US" altLang="zh-CN" dirty="0"/>
          </a:p>
          <a:p>
            <a:endParaRPr kumimoji="1" lang="en-US" altLang="zh-CN" dirty="0" smtClean="0"/>
          </a:p>
          <a:p>
            <a:endParaRPr kumimoji="1" lang="en-US" altLang="zh-CN" sz="2400" dirty="0"/>
          </a:p>
          <a:p>
            <a:endParaRPr kumimoji="1" lang="en-US" altLang="zh-CN" sz="2400" dirty="0" smtClean="0"/>
          </a:p>
          <a:p>
            <a:endParaRPr kumimoji="1" lang="en-US" altLang="zh-CN" sz="2400" dirty="0"/>
          </a:p>
          <a:p>
            <a:pPr marL="0" indent="0">
              <a:buNone/>
            </a:pPr>
            <a:endParaRPr kumimoji="1" lang="en-US" altLang="zh-CN" sz="2400" dirty="0" smtClean="0"/>
          </a:p>
          <a:p>
            <a:pPr marL="0" indent="0">
              <a:buNone/>
            </a:pPr>
            <a:r>
              <a:rPr kumimoji="1" lang="en-US" altLang="zh-CN" sz="2400" dirty="0" err="1" smtClean="0"/>
              <a:t>Webpack</a:t>
            </a:r>
            <a:r>
              <a:rPr kumimoji="1" lang="zh-CN" altLang="en-US" sz="2400" dirty="0" smtClean="0"/>
              <a:t>内部使用的是 </a:t>
            </a:r>
            <a:r>
              <a:rPr kumimoji="1" lang="en-US" altLang="zh-CN" sz="2400" dirty="0" smtClean="0"/>
              <a:t>enhanced-resolve</a:t>
            </a:r>
            <a:r>
              <a:rPr kumimoji="1" lang="zh-CN" altLang="en-US" sz="2400" dirty="0" smtClean="0"/>
              <a:t> 这个增强版的模块解析器</a:t>
            </a:r>
            <a:endParaRPr kumimoji="1" lang="en-US" altLang="zh-CN" sz="2400" dirty="0" smtClean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603" y="1289407"/>
            <a:ext cx="9029700" cy="41148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838200" y="493160"/>
            <a:ext cx="91151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latin typeface="+mj-ea"/>
                <a:ea typeface="+mj-ea"/>
              </a:rPr>
              <a:t>resolve</a:t>
            </a:r>
            <a:endParaRPr kumimoji="1" lang="zh-CN" altLang="en-US" sz="3200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544468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85676"/>
            <a:ext cx="10515600" cy="590372"/>
          </a:xfrm>
        </p:spPr>
        <p:txBody>
          <a:bodyPr>
            <a:normAutofit/>
          </a:bodyPr>
          <a:lstStyle/>
          <a:p>
            <a:r>
              <a:rPr kumimoji="1" lang="en-US" altLang="zh-CN" sz="3200" b="1" dirty="0" smtClean="0"/>
              <a:t>module</a:t>
            </a:r>
            <a:endParaRPr kumimoji="1" lang="zh-CN" altLang="en-US" sz="3200" b="1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955498"/>
            <a:ext cx="5885882" cy="5859449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7263829" y="4211275"/>
            <a:ext cx="4407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000" dirty="0" smtClean="0">
                <a:latin typeface="+mn-ea"/>
              </a:rPr>
              <a:t>当有多个</a:t>
            </a:r>
            <a:r>
              <a:rPr kumimoji="1" lang="en-US" altLang="zh-CN" sz="2000" dirty="0" smtClean="0">
                <a:latin typeface="+mn-ea"/>
              </a:rPr>
              <a:t>loader</a:t>
            </a:r>
            <a:r>
              <a:rPr kumimoji="1" lang="zh-CN" altLang="en-US" sz="2000" dirty="0" smtClean="0">
                <a:latin typeface="+mn-ea"/>
              </a:rPr>
              <a:t>处理同一个文件类型时，</a:t>
            </a:r>
            <a:r>
              <a:rPr kumimoji="1" lang="en-US" altLang="zh-CN" sz="2000" dirty="0" smtClean="0">
                <a:latin typeface="+mn-ea"/>
              </a:rPr>
              <a:t>loader</a:t>
            </a:r>
            <a:r>
              <a:rPr kumimoji="1" lang="zh-CN" altLang="en-US" sz="2000" dirty="0" smtClean="0">
                <a:latin typeface="+mn-ea"/>
              </a:rPr>
              <a:t>的加载是从右往左的</a:t>
            </a:r>
            <a:endParaRPr kumimoji="1" lang="zh-CN" altLang="en-US" sz="2000" dirty="0">
              <a:latin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263829" y="976048"/>
            <a:ext cx="4407614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000" dirty="0" smtClean="0">
                <a:latin typeface="+mn-ea"/>
              </a:rPr>
              <a:t>Loader</a:t>
            </a:r>
            <a:r>
              <a:rPr kumimoji="1" lang="zh-CN" altLang="en-US" sz="2000" dirty="0" smtClean="0">
                <a:latin typeface="+mn-ea"/>
              </a:rPr>
              <a:t>的本质其实是函数，将接收的源码经过当前</a:t>
            </a:r>
            <a:r>
              <a:rPr kumimoji="1" lang="en-US" altLang="zh-CN" sz="2000" dirty="0" smtClean="0">
                <a:latin typeface="+mn-ea"/>
              </a:rPr>
              <a:t>loader</a:t>
            </a:r>
            <a:r>
              <a:rPr kumimoji="1" lang="zh-CN" altLang="en-US" sz="2000" dirty="0" smtClean="0">
                <a:latin typeface="+mn-ea"/>
              </a:rPr>
              <a:t>处理后返回新的代码。</a:t>
            </a:r>
            <a:endParaRPr kumimoji="1" lang="en-US" altLang="zh-CN" sz="2000" dirty="0" smtClean="0">
              <a:latin typeface="+mn-ea"/>
            </a:endParaRPr>
          </a:p>
          <a:p>
            <a:endParaRPr kumimoji="1" lang="en-US" altLang="zh-CN" sz="2000" dirty="0" smtClean="0">
              <a:latin typeface="+mn-ea"/>
            </a:endParaRPr>
          </a:p>
          <a:p>
            <a:r>
              <a:rPr kumimoji="1" lang="en-US" altLang="zh-CN" sz="2000" dirty="0" smtClean="0">
                <a:latin typeface="+mn-ea"/>
              </a:rPr>
              <a:t>function</a:t>
            </a:r>
            <a:r>
              <a:rPr kumimoji="1" lang="zh-CN" altLang="en-US" sz="2000" dirty="0" smtClean="0">
                <a:latin typeface="+mn-ea"/>
              </a:rPr>
              <a:t> </a:t>
            </a:r>
            <a:r>
              <a:rPr kumimoji="1" lang="en-US" altLang="zh-CN" sz="2000" dirty="0" err="1" smtClean="0">
                <a:latin typeface="+mn-ea"/>
              </a:rPr>
              <a:t>myLoader</a:t>
            </a:r>
            <a:r>
              <a:rPr kumimoji="1" lang="en-US" altLang="zh-CN" sz="2000" dirty="0" smtClean="0">
                <a:latin typeface="+mn-ea"/>
              </a:rPr>
              <a:t>(code){</a:t>
            </a:r>
          </a:p>
          <a:p>
            <a:r>
              <a:rPr kumimoji="1" lang="zh-CN" altLang="en-US" sz="2000" dirty="0" smtClean="0">
                <a:latin typeface="+mn-ea"/>
              </a:rPr>
              <a:t>   </a:t>
            </a:r>
            <a:r>
              <a:rPr kumimoji="1" lang="en-US" altLang="zh-CN" sz="2000" dirty="0" err="1" smtClean="0">
                <a:latin typeface="+mn-ea"/>
              </a:rPr>
              <a:t>newCode</a:t>
            </a:r>
            <a:r>
              <a:rPr kumimoji="1" lang="zh-CN" altLang="en-US" sz="2000" dirty="0" smtClean="0">
                <a:latin typeface="+mn-ea"/>
              </a:rPr>
              <a:t> </a:t>
            </a:r>
            <a:r>
              <a:rPr kumimoji="1" lang="en-US" altLang="zh-CN" sz="2000" dirty="0" smtClean="0">
                <a:latin typeface="+mn-ea"/>
              </a:rPr>
              <a:t>=</a:t>
            </a:r>
            <a:r>
              <a:rPr kumimoji="1" lang="zh-CN" altLang="en-US" sz="2000" dirty="0" smtClean="0">
                <a:latin typeface="+mn-ea"/>
              </a:rPr>
              <a:t> </a:t>
            </a:r>
            <a:r>
              <a:rPr kumimoji="1" lang="en-US" altLang="zh-CN" sz="2000" dirty="0" smtClean="0">
                <a:latin typeface="+mn-ea"/>
              </a:rPr>
              <a:t>transform(code)</a:t>
            </a:r>
            <a:endParaRPr kumimoji="1" lang="en-US" altLang="zh-CN" sz="2000" dirty="0">
              <a:latin typeface="+mn-ea"/>
            </a:endParaRPr>
          </a:p>
          <a:p>
            <a:r>
              <a:rPr kumimoji="1" lang="zh-CN" altLang="en-US" sz="2000" dirty="0" smtClean="0">
                <a:latin typeface="+mn-ea"/>
              </a:rPr>
              <a:t>   </a:t>
            </a:r>
            <a:r>
              <a:rPr kumimoji="1" lang="en-US" altLang="zh-CN" sz="2000" dirty="0" smtClean="0">
                <a:latin typeface="+mn-ea"/>
              </a:rPr>
              <a:t>return</a:t>
            </a:r>
            <a:r>
              <a:rPr kumimoji="1" lang="zh-CN" altLang="en-US" sz="2000" dirty="0" smtClean="0">
                <a:latin typeface="+mn-ea"/>
              </a:rPr>
              <a:t> </a:t>
            </a:r>
            <a:r>
              <a:rPr kumimoji="1" lang="en-US" altLang="zh-CN" sz="2000" dirty="0" err="1">
                <a:latin typeface="+mn-ea"/>
              </a:rPr>
              <a:t>newCode</a:t>
            </a:r>
            <a:r>
              <a:rPr kumimoji="1" lang="zh-CN" altLang="en-US" sz="2000" dirty="0">
                <a:latin typeface="+mn-ea"/>
              </a:rPr>
              <a:t> </a:t>
            </a:r>
            <a:endParaRPr kumimoji="1" lang="en-US" altLang="zh-CN" sz="2000" dirty="0">
              <a:latin typeface="+mn-ea"/>
            </a:endParaRPr>
          </a:p>
          <a:p>
            <a:r>
              <a:rPr kumimoji="1" lang="en-US" altLang="zh-CN" sz="2000" dirty="0" smtClean="0">
                <a:latin typeface="+mn-ea"/>
              </a:rPr>
              <a:t>}</a:t>
            </a:r>
            <a:endParaRPr kumimoji="1" lang="zh-CN" altLang="en-US" sz="2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77144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69823"/>
          </a:xfrm>
        </p:spPr>
        <p:txBody>
          <a:bodyPr>
            <a:normAutofit/>
          </a:bodyPr>
          <a:lstStyle/>
          <a:p>
            <a:r>
              <a:rPr kumimoji="1" lang="en-US" altLang="zh-CN" sz="3200" b="1" dirty="0" smtClean="0"/>
              <a:t>plugins</a:t>
            </a:r>
            <a:endParaRPr kumimoji="1" lang="zh-CN" altLang="en-US" sz="3200" b="1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088846"/>
            <a:ext cx="6523918" cy="5129213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7798086" y="1088846"/>
            <a:ext cx="404801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smtClean="0"/>
              <a:t>plugin</a:t>
            </a:r>
            <a:r>
              <a:rPr kumimoji="1" lang="zh-CN" altLang="en-US" dirty="0" smtClean="0"/>
              <a:t>的本质是一个具有</a:t>
            </a:r>
            <a:r>
              <a:rPr kumimoji="1" lang="en-US" altLang="zh-CN" dirty="0" smtClean="0"/>
              <a:t>apply</a:t>
            </a:r>
            <a:r>
              <a:rPr kumimoji="1" lang="zh-CN" altLang="en-US" dirty="0" smtClean="0"/>
              <a:t>方法的构造函数（类）</a:t>
            </a:r>
            <a:endParaRPr kumimoji="1" lang="en-US" altLang="zh-CN" dirty="0" smtClean="0"/>
          </a:p>
          <a:p>
            <a:endParaRPr kumimoji="1" lang="en-US" altLang="zh-CN" dirty="0"/>
          </a:p>
          <a:p>
            <a:r>
              <a:rPr kumimoji="1" lang="en-US" altLang="zh-CN" dirty="0" smtClean="0"/>
              <a:t>class</a:t>
            </a:r>
            <a:r>
              <a:rPr kumimoji="1" lang="zh-CN" altLang="en-US" dirty="0" smtClean="0"/>
              <a:t> </a:t>
            </a:r>
            <a:r>
              <a:rPr kumimoji="1" lang="en-US" altLang="zh-CN" dirty="0" err="1" smtClean="0"/>
              <a:t>MyPlugin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{</a:t>
            </a:r>
          </a:p>
          <a:p>
            <a:r>
              <a:rPr kumimoji="1" lang="zh-CN" altLang="en-US" dirty="0" smtClean="0"/>
              <a:t>    </a:t>
            </a:r>
            <a:r>
              <a:rPr kumimoji="1" lang="en-US" altLang="zh-CN" dirty="0" err="1" smtClean="0"/>
              <a:t>contructor</a:t>
            </a:r>
            <a:r>
              <a:rPr kumimoji="1" lang="en-US" altLang="zh-CN" dirty="0" smtClean="0"/>
              <a:t>(opt){</a:t>
            </a:r>
          </a:p>
          <a:p>
            <a:r>
              <a:rPr kumimoji="1" lang="zh-CN" altLang="en-US" dirty="0"/>
              <a:t> </a:t>
            </a:r>
            <a:r>
              <a:rPr kumimoji="1" lang="zh-CN" altLang="en-US" dirty="0" smtClean="0"/>
              <a:t>       </a:t>
            </a:r>
            <a:r>
              <a:rPr kumimoji="1" lang="en-US" altLang="zh-CN" dirty="0" err="1" smtClean="0"/>
              <a:t>this.opt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=opt</a:t>
            </a:r>
          </a:p>
          <a:p>
            <a:r>
              <a:rPr kumimoji="1" lang="zh-CN" altLang="en-US" dirty="0"/>
              <a:t> </a:t>
            </a:r>
            <a:r>
              <a:rPr kumimoji="1" lang="zh-CN" altLang="en-US" dirty="0" smtClean="0"/>
              <a:t>   </a:t>
            </a:r>
            <a:r>
              <a:rPr kumimoji="1" lang="en-US" altLang="zh-CN" dirty="0" smtClean="0"/>
              <a:t>}</a:t>
            </a:r>
          </a:p>
          <a:p>
            <a:endParaRPr kumimoji="1" lang="en-US" altLang="zh-CN" dirty="0"/>
          </a:p>
          <a:p>
            <a:r>
              <a:rPr kumimoji="1" lang="zh-CN" altLang="en-US" dirty="0" smtClean="0"/>
              <a:t>    </a:t>
            </a:r>
            <a:r>
              <a:rPr kumimoji="1" lang="en-US" altLang="zh-CN" dirty="0" smtClean="0"/>
              <a:t>apply(compiler){</a:t>
            </a:r>
          </a:p>
          <a:p>
            <a:r>
              <a:rPr kumimoji="1" lang="zh-CN" altLang="en-US" dirty="0" smtClean="0"/>
              <a:t>        </a:t>
            </a:r>
            <a:r>
              <a:rPr kumimoji="1" lang="en-US" altLang="zh-CN" dirty="0" smtClean="0"/>
              <a:t>//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do</a:t>
            </a:r>
            <a:r>
              <a:rPr kumimoji="1" lang="zh-CN" altLang="en-US" dirty="0" smtClean="0"/>
              <a:t> </a:t>
            </a:r>
            <a:r>
              <a:rPr kumimoji="1" lang="en-US" altLang="zh-CN" dirty="0" err="1" smtClean="0"/>
              <a:t>sth</a:t>
            </a:r>
            <a:endParaRPr kumimoji="1" lang="en-US" altLang="zh-CN" dirty="0" smtClean="0"/>
          </a:p>
          <a:p>
            <a:r>
              <a:rPr kumimoji="1" lang="zh-CN" altLang="en-US" dirty="0"/>
              <a:t> </a:t>
            </a:r>
            <a:r>
              <a:rPr kumimoji="1" lang="zh-CN" altLang="en-US" dirty="0" smtClean="0"/>
              <a:t>   </a:t>
            </a:r>
            <a:r>
              <a:rPr kumimoji="1" lang="en-US" altLang="zh-CN" dirty="0" smtClean="0"/>
              <a:t>}</a:t>
            </a:r>
            <a:endParaRPr kumimoji="1" lang="en-US" altLang="zh-CN" dirty="0"/>
          </a:p>
          <a:p>
            <a:r>
              <a:rPr kumimoji="1" lang="en-US" altLang="zh-CN" dirty="0" smtClean="0"/>
              <a:t>}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89275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00646"/>
          </a:xfrm>
        </p:spPr>
        <p:txBody>
          <a:bodyPr>
            <a:normAutofit/>
          </a:bodyPr>
          <a:lstStyle/>
          <a:p>
            <a:r>
              <a:rPr lang="en-US" altLang="zh-CN" sz="3200" b="1" dirty="0" smtClean="0"/>
              <a:t>optimization</a:t>
            </a:r>
            <a:endParaRPr kumimoji="1" lang="zh-CN" altLang="en-US" sz="3200" b="1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160622"/>
            <a:ext cx="5702300" cy="336550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6709025" y="1160622"/>
            <a:ext cx="506516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 smtClean="0"/>
              <a:t>默认参数下只影响按需加载的</a:t>
            </a:r>
            <a:r>
              <a:rPr kumimoji="1" lang="en-US" altLang="zh-CN" dirty="0" smtClean="0"/>
              <a:t>chunk</a:t>
            </a:r>
            <a:r>
              <a:rPr kumimoji="1" lang="zh-CN" altLang="en-US" dirty="0" smtClean="0"/>
              <a:t>，默认的规则有下面</a:t>
            </a:r>
            <a:r>
              <a:rPr kumimoji="1" lang="en-US" altLang="zh-CN" dirty="0" smtClean="0"/>
              <a:t>4</a:t>
            </a:r>
            <a:r>
              <a:rPr kumimoji="1" lang="zh-CN" altLang="en-US" dirty="0" smtClean="0"/>
              <a:t>个：</a:t>
            </a:r>
            <a:endParaRPr kumimoji="1" lang="en-US" altLang="zh-CN" dirty="0" smtClean="0"/>
          </a:p>
          <a:p>
            <a:r>
              <a:rPr kumimoji="1" lang="en-US" altLang="zh-CN" dirty="0" smtClean="0"/>
              <a:t>1</a:t>
            </a:r>
            <a:r>
              <a:rPr kumimoji="1" lang="zh-CN" altLang="en-US" dirty="0" smtClean="0"/>
              <a:t>、可复用模块，或者是</a:t>
            </a:r>
            <a:r>
              <a:rPr kumimoji="1" lang="en-US" altLang="zh-CN" dirty="0" err="1" smtClean="0"/>
              <a:t>node_modules</a:t>
            </a:r>
            <a:r>
              <a:rPr kumimoji="1" lang="zh-CN" altLang="en-US" dirty="0" smtClean="0"/>
              <a:t>中的模块</a:t>
            </a:r>
            <a:endParaRPr kumimoji="1" lang="en-US" altLang="zh-CN" dirty="0" smtClean="0"/>
          </a:p>
          <a:p>
            <a:r>
              <a:rPr kumimoji="1" lang="en-US" altLang="zh-CN" dirty="0" smtClean="0"/>
              <a:t>2</a:t>
            </a:r>
            <a:r>
              <a:rPr kumimoji="1" lang="zh-CN" altLang="en-US" dirty="0" smtClean="0"/>
              <a:t>、模块体积大于</a:t>
            </a:r>
            <a:r>
              <a:rPr kumimoji="1" lang="en-US" altLang="zh-CN" dirty="0" smtClean="0"/>
              <a:t>30K</a:t>
            </a:r>
          </a:p>
          <a:p>
            <a:r>
              <a:rPr kumimoji="1" lang="en-US" altLang="zh-CN" dirty="0" smtClean="0"/>
              <a:t>3</a:t>
            </a:r>
            <a:r>
              <a:rPr kumimoji="1" lang="zh-CN" altLang="en-US" dirty="0" smtClean="0"/>
              <a:t>、</a:t>
            </a:r>
            <a:r>
              <a:rPr lang="zh-CN" altLang="en-US" dirty="0"/>
              <a:t>按需加载的代码块，并行请求最大</a:t>
            </a:r>
            <a:r>
              <a:rPr lang="zh-CN" altLang="en-US" dirty="0" smtClean="0"/>
              <a:t>数量小于等于</a:t>
            </a:r>
            <a:r>
              <a:rPr lang="en-US" altLang="zh-CN" dirty="0" smtClean="0"/>
              <a:t>5</a:t>
            </a:r>
            <a:r>
              <a:rPr lang="zh-CN" altLang="en-US" dirty="0" smtClean="0"/>
              <a:t>（</a:t>
            </a:r>
            <a:r>
              <a:rPr lang="en-US" altLang="zh-CN" dirty="0" smtClean="0"/>
              <a:t>webpack5</a:t>
            </a:r>
            <a:r>
              <a:rPr lang="zh-CN" altLang="en-US" dirty="0" smtClean="0"/>
              <a:t>为</a:t>
            </a:r>
            <a:r>
              <a:rPr lang="en-US" altLang="zh-CN" dirty="0" smtClean="0"/>
              <a:t>6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r>
              <a:rPr kumimoji="1" lang="en-US" altLang="zh-CN" dirty="0" smtClean="0"/>
              <a:t>4</a:t>
            </a:r>
            <a:r>
              <a:rPr kumimoji="1" lang="zh-CN" altLang="en-US" dirty="0" smtClean="0"/>
              <a:t>、</a:t>
            </a:r>
            <a:r>
              <a:rPr lang="zh-CN" altLang="en-US" dirty="0" smtClean="0"/>
              <a:t>初始加载</a:t>
            </a:r>
            <a:r>
              <a:rPr lang="zh-CN" altLang="en-US" dirty="0"/>
              <a:t>的代码块，并行请求最大</a:t>
            </a:r>
            <a:r>
              <a:rPr lang="zh-CN" altLang="en-US" dirty="0" smtClean="0"/>
              <a:t>数量小于等于</a:t>
            </a:r>
            <a:r>
              <a:rPr lang="en-US" altLang="zh-CN" dirty="0" smtClean="0"/>
              <a:t>3</a:t>
            </a:r>
            <a:r>
              <a:rPr lang="zh-CN" altLang="en-US" dirty="0"/>
              <a:t>（</a:t>
            </a:r>
            <a:r>
              <a:rPr lang="en-US" altLang="zh-CN" dirty="0"/>
              <a:t>webpack5</a:t>
            </a:r>
            <a:r>
              <a:rPr lang="zh-CN" altLang="en-US" dirty="0" smtClean="0"/>
              <a:t>为</a:t>
            </a:r>
            <a:r>
              <a:rPr lang="en-US" altLang="zh-CN" dirty="0" smtClean="0"/>
              <a:t>4</a:t>
            </a:r>
            <a:r>
              <a:rPr lang="zh-CN" altLang="en-US" dirty="0" smtClean="0"/>
              <a:t>）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917145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34209"/>
          </a:xfrm>
        </p:spPr>
        <p:txBody>
          <a:bodyPr>
            <a:normAutofit/>
          </a:bodyPr>
          <a:lstStyle/>
          <a:p>
            <a:r>
              <a:rPr kumimoji="1" lang="zh-CN" altLang="en-US" sz="3200" b="1" dirty="0" smtClean="0"/>
              <a:t>常见配置总结</a:t>
            </a:r>
            <a:endParaRPr kumimoji="1" lang="zh-CN" altLang="en-US" sz="3200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417834"/>
            <a:ext cx="10515600" cy="4759129"/>
          </a:xfrm>
        </p:spPr>
        <p:txBody>
          <a:bodyPr/>
          <a:lstStyle/>
          <a:p>
            <a:r>
              <a:rPr lang="zh-CN" altLang="en-US" sz="2400" dirty="0">
                <a:latin typeface="+mn-ea"/>
              </a:rPr>
              <a:t>想让源文件加入到构建流程中去被 </a:t>
            </a:r>
            <a:r>
              <a:rPr lang="en-US" altLang="zh-CN" sz="2400" dirty="0" err="1">
                <a:latin typeface="+mn-ea"/>
              </a:rPr>
              <a:t>Webpack</a:t>
            </a:r>
            <a:r>
              <a:rPr lang="en-US" altLang="zh-CN" sz="2400" dirty="0">
                <a:latin typeface="+mn-ea"/>
              </a:rPr>
              <a:t> </a:t>
            </a:r>
            <a:r>
              <a:rPr lang="zh-CN" altLang="en-US" sz="2400" dirty="0">
                <a:latin typeface="+mn-ea"/>
              </a:rPr>
              <a:t>控制，配置 </a:t>
            </a:r>
            <a:r>
              <a:rPr lang="en-US" altLang="zh-CN" sz="2400" dirty="0">
                <a:latin typeface="+mn-ea"/>
              </a:rPr>
              <a:t>entry</a:t>
            </a:r>
            <a:r>
              <a:rPr lang="zh-CN" altLang="en-US" sz="2400" dirty="0">
                <a:latin typeface="+mn-ea"/>
              </a:rPr>
              <a:t>。</a:t>
            </a:r>
          </a:p>
          <a:p>
            <a:r>
              <a:rPr lang="zh-CN" altLang="en-US" sz="2400" dirty="0">
                <a:latin typeface="+mn-ea"/>
              </a:rPr>
              <a:t>想自定义输出文件的位置和名称，配置 </a:t>
            </a:r>
            <a:r>
              <a:rPr lang="en-US" altLang="zh-CN" sz="2400" dirty="0">
                <a:latin typeface="+mn-ea"/>
              </a:rPr>
              <a:t>output</a:t>
            </a:r>
            <a:r>
              <a:rPr lang="zh-CN" altLang="en-US" sz="2400" dirty="0">
                <a:latin typeface="+mn-ea"/>
              </a:rPr>
              <a:t>。</a:t>
            </a:r>
          </a:p>
          <a:p>
            <a:r>
              <a:rPr lang="zh-CN" altLang="en-US" sz="2400" dirty="0">
                <a:latin typeface="+mn-ea"/>
              </a:rPr>
              <a:t>想自定义寻找依赖模块时的策略，配置 </a:t>
            </a:r>
            <a:r>
              <a:rPr lang="en-US" altLang="zh-CN" sz="2400" dirty="0">
                <a:latin typeface="+mn-ea"/>
              </a:rPr>
              <a:t>resolve</a:t>
            </a:r>
            <a:r>
              <a:rPr lang="zh-CN" altLang="en-US" sz="2400" dirty="0">
                <a:latin typeface="+mn-ea"/>
              </a:rPr>
              <a:t>。</a:t>
            </a:r>
          </a:p>
          <a:p>
            <a:r>
              <a:rPr lang="zh-CN" altLang="en-US" sz="2400" dirty="0">
                <a:latin typeface="+mn-ea"/>
              </a:rPr>
              <a:t>想自定义解析和转换文件的策略，配置 </a:t>
            </a:r>
            <a:r>
              <a:rPr lang="en-US" altLang="zh-CN" sz="2400" dirty="0">
                <a:latin typeface="+mn-ea"/>
              </a:rPr>
              <a:t>module</a:t>
            </a:r>
            <a:r>
              <a:rPr lang="zh-CN" altLang="en-US" sz="2400" dirty="0">
                <a:latin typeface="+mn-ea"/>
              </a:rPr>
              <a:t>，通常是配置 </a:t>
            </a:r>
            <a:r>
              <a:rPr lang="en-US" altLang="zh-CN" sz="2400" dirty="0" err="1">
                <a:latin typeface="+mn-ea"/>
              </a:rPr>
              <a:t>module.rules</a:t>
            </a:r>
            <a:r>
              <a:rPr lang="en-US" altLang="zh-CN" sz="2400" dirty="0">
                <a:latin typeface="+mn-ea"/>
              </a:rPr>
              <a:t> </a:t>
            </a:r>
            <a:r>
              <a:rPr lang="zh-CN" altLang="en-US" sz="2400" dirty="0">
                <a:latin typeface="+mn-ea"/>
              </a:rPr>
              <a:t>里的 </a:t>
            </a:r>
            <a:r>
              <a:rPr lang="en-US" altLang="zh-CN" sz="2400" dirty="0">
                <a:latin typeface="+mn-ea"/>
              </a:rPr>
              <a:t>Loader</a:t>
            </a:r>
            <a:r>
              <a:rPr lang="zh-CN" altLang="en-US" sz="2400" dirty="0" smtClean="0">
                <a:latin typeface="+mn-ea"/>
              </a:rPr>
              <a:t>。</a:t>
            </a:r>
            <a:endParaRPr lang="en-US" altLang="zh-CN" sz="2400" dirty="0" smtClean="0">
              <a:latin typeface="+mn-ea"/>
            </a:endParaRPr>
          </a:p>
          <a:p>
            <a:r>
              <a:rPr lang="zh-CN" altLang="en-US" sz="2400" dirty="0" smtClean="0">
                <a:latin typeface="+mn-ea"/>
              </a:rPr>
              <a:t>想优化文件，提取公共代码，配置</a:t>
            </a:r>
            <a:r>
              <a:rPr lang="en-US" altLang="zh-CN" sz="2400" dirty="0" smtClean="0">
                <a:latin typeface="+mn-ea"/>
              </a:rPr>
              <a:t>optimization</a:t>
            </a:r>
            <a:r>
              <a:rPr lang="zh-CN" altLang="en-US" sz="2400" dirty="0" smtClean="0">
                <a:latin typeface="+mn-ea"/>
              </a:rPr>
              <a:t>。</a:t>
            </a:r>
            <a:endParaRPr lang="zh-CN" altLang="en-US" sz="2400" dirty="0">
              <a:latin typeface="+mn-ea"/>
            </a:endParaRPr>
          </a:p>
          <a:p>
            <a:r>
              <a:rPr lang="zh-CN" altLang="en-US" sz="2400" dirty="0">
                <a:latin typeface="+mn-ea"/>
              </a:rPr>
              <a:t>其它的大部分需求可能要通过 </a:t>
            </a:r>
            <a:r>
              <a:rPr lang="en-US" altLang="zh-CN" sz="2400" dirty="0">
                <a:latin typeface="+mn-ea"/>
              </a:rPr>
              <a:t>Plugin </a:t>
            </a:r>
            <a:r>
              <a:rPr lang="zh-CN" altLang="en-US" sz="2400" dirty="0">
                <a:latin typeface="+mn-ea"/>
              </a:rPr>
              <a:t>去实现，配置 </a:t>
            </a:r>
            <a:r>
              <a:rPr lang="en-US" altLang="zh-CN" sz="2400" dirty="0">
                <a:latin typeface="+mn-ea"/>
              </a:rPr>
              <a:t>plugin</a:t>
            </a:r>
            <a:r>
              <a:rPr lang="zh-CN" altLang="en-US" sz="2400" dirty="0">
                <a:latin typeface="+mn-ea"/>
              </a:rPr>
              <a:t>。</a:t>
            </a:r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499305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90372"/>
          </a:xfrm>
        </p:spPr>
        <p:txBody>
          <a:bodyPr>
            <a:normAutofit/>
          </a:bodyPr>
          <a:lstStyle/>
          <a:p>
            <a:r>
              <a:rPr kumimoji="1" lang="zh-CN" altLang="en-US" sz="3200" b="1" dirty="0" smtClean="0"/>
              <a:t>编译阶段</a:t>
            </a:r>
            <a:endParaRPr kumimoji="1" lang="zh-CN" altLang="en-US" sz="3200" b="1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263472"/>
            <a:ext cx="7415784" cy="5364812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7247" y="1033238"/>
            <a:ext cx="10734608" cy="5415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821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19963"/>
          </a:xfrm>
        </p:spPr>
        <p:txBody>
          <a:bodyPr>
            <a:normAutofit/>
          </a:bodyPr>
          <a:lstStyle/>
          <a:p>
            <a:r>
              <a:rPr kumimoji="1" lang="zh-CN" altLang="en-US" sz="3200" b="1" dirty="0" smtClean="0"/>
              <a:t>输出阶段</a:t>
            </a:r>
            <a:endParaRPr kumimoji="1" lang="zh-CN" altLang="en-US" sz="3200" b="1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364869"/>
            <a:ext cx="6019800" cy="420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9438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68731"/>
          </a:xfrm>
        </p:spPr>
        <p:txBody>
          <a:bodyPr>
            <a:normAutofit/>
          </a:bodyPr>
          <a:lstStyle/>
          <a:p>
            <a:r>
              <a:rPr kumimoji="1" lang="zh-CN" altLang="en-US" sz="3200" b="1" dirty="0" smtClean="0">
                <a:latin typeface="+mn-ea"/>
                <a:ea typeface="+mn-ea"/>
              </a:rPr>
              <a:t>编写</a:t>
            </a:r>
            <a:r>
              <a:rPr kumimoji="1" lang="en-US" altLang="zh-CN" sz="3200" b="1" dirty="0" smtClean="0">
                <a:latin typeface="+mn-ea"/>
                <a:ea typeface="+mn-ea"/>
              </a:rPr>
              <a:t>loader</a:t>
            </a:r>
            <a:endParaRPr kumimoji="1" lang="zh-CN" altLang="en-US" sz="3200" b="1" dirty="0">
              <a:latin typeface="+mn-ea"/>
              <a:ea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38200" y="1036320"/>
            <a:ext cx="105156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>
                <a:latin typeface="+mn-ea"/>
              </a:rPr>
              <a:t>loader</a:t>
            </a:r>
            <a:r>
              <a:rPr kumimoji="1" lang="zh-CN" altLang="en-US" sz="2400" dirty="0">
                <a:latin typeface="+mn-ea"/>
              </a:rPr>
              <a:t>的本质就是一个</a:t>
            </a:r>
            <a:r>
              <a:rPr kumimoji="1" lang="zh-CN" altLang="en-US" sz="2400" dirty="0" smtClean="0">
                <a:latin typeface="+mn-ea"/>
              </a:rPr>
              <a:t>函数，</a:t>
            </a:r>
            <a:r>
              <a:rPr lang="zh-CN" altLang="en-US" sz="2400" dirty="0" smtClean="0"/>
              <a:t>这个函数的作用就</a:t>
            </a:r>
            <a:r>
              <a:rPr lang="zh-CN" altLang="en-US" sz="2400" dirty="0"/>
              <a:t>是获得处理前的原内容，对原内容执行处理后，返回处理后的内容。</a:t>
            </a:r>
            <a:endParaRPr kumimoji="1" lang="zh-CN" altLang="en-US" sz="2400" dirty="0">
              <a:latin typeface="+mn-ea"/>
            </a:endParaRPr>
          </a:p>
          <a:p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80386"/>
            <a:ext cx="8242300" cy="12446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170246"/>
            <a:ext cx="7721600" cy="152400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500" y="4739506"/>
            <a:ext cx="8255000" cy="185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2802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59003"/>
          </a:xfrm>
        </p:spPr>
        <p:txBody>
          <a:bodyPr>
            <a:normAutofit/>
          </a:bodyPr>
          <a:lstStyle/>
          <a:p>
            <a:r>
              <a:rPr kumimoji="1" lang="zh-CN" altLang="en-US" sz="3200" b="1" dirty="0" smtClean="0">
                <a:latin typeface="+mj-ea"/>
              </a:rPr>
              <a:t>编写</a:t>
            </a:r>
            <a:r>
              <a:rPr kumimoji="1" lang="en-US" altLang="zh-CN" sz="3200" b="1" dirty="0" smtClean="0">
                <a:latin typeface="+mj-ea"/>
              </a:rPr>
              <a:t>loader</a:t>
            </a:r>
            <a:r>
              <a:rPr kumimoji="1" lang="zh-CN" altLang="en-US" sz="3200" b="1" dirty="0" smtClean="0">
                <a:latin typeface="+mj-ea"/>
              </a:rPr>
              <a:t>的注意点</a:t>
            </a:r>
            <a:endParaRPr kumimoji="1" lang="zh-CN" altLang="en-US" sz="3200" b="1" dirty="0">
              <a:latin typeface="+mj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38200" y="1036320"/>
            <a:ext cx="103052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 smtClean="0">
                <a:latin typeface="+mn-ea"/>
              </a:rPr>
              <a:t>1</a:t>
            </a:r>
            <a:r>
              <a:rPr kumimoji="1" lang="zh-CN" altLang="en-US" sz="2400" dirty="0" smtClean="0">
                <a:latin typeface="+mn-ea"/>
              </a:rPr>
              <a:t>、获取</a:t>
            </a:r>
            <a:r>
              <a:rPr kumimoji="1" lang="en-US" altLang="zh-CN" sz="2400" dirty="0">
                <a:latin typeface="+mn-ea"/>
              </a:rPr>
              <a:t>loader</a:t>
            </a:r>
            <a:r>
              <a:rPr kumimoji="1" lang="zh-CN" altLang="en-US" sz="2400" dirty="0">
                <a:latin typeface="+mn-ea"/>
              </a:rPr>
              <a:t>的传入的</a:t>
            </a:r>
            <a:r>
              <a:rPr kumimoji="1" lang="en-US" altLang="zh-CN" sz="2400" dirty="0">
                <a:latin typeface="+mn-ea"/>
              </a:rPr>
              <a:t>options</a:t>
            </a:r>
            <a:r>
              <a:rPr kumimoji="1" lang="zh-CN" altLang="en-US" sz="2400" dirty="0">
                <a:latin typeface="+mn-ea"/>
              </a:rPr>
              <a:t>，官方提供了</a:t>
            </a:r>
            <a:r>
              <a:rPr lang="en-US" altLang="zh-CN" sz="2400" dirty="0">
                <a:latin typeface="+mn-ea"/>
              </a:rPr>
              <a:t>loader-</a:t>
            </a:r>
            <a:r>
              <a:rPr lang="en-US" altLang="zh-CN" sz="2400" dirty="0" err="1">
                <a:latin typeface="+mn-ea"/>
              </a:rPr>
              <a:t>utils</a:t>
            </a:r>
            <a:r>
              <a:rPr lang="zh-CN" altLang="en-US" sz="2400" dirty="0">
                <a:latin typeface="+mn-ea"/>
              </a:rPr>
              <a:t>和</a:t>
            </a:r>
            <a:r>
              <a:rPr lang="en-US" altLang="zh-CN" sz="2400" dirty="0">
                <a:latin typeface="+mn-ea"/>
              </a:rPr>
              <a:t>schema-</a:t>
            </a:r>
            <a:r>
              <a:rPr lang="en-US" altLang="zh-CN" sz="2400" dirty="0" err="1">
                <a:latin typeface="+mn-ea"/>
              </a:rPr>
              <a:t>utils</a:t>
            </a:r>
            <a:r>
              <a:rPr lang="zh-CN" altLang="en-US" sz="2400" dirty="0">
                <a:latin typeface="+mn-ea"/>
              </a:rPr>
              <a:t>两个工具库</a:t>
            </a:r>
            <a:endParaRPr lang="en-US" altLang="zh-CN" sz="2400" dirty="0">
              <a:latin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38200" y="1879509"/>
            <a:ext cx="25010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 smtClean="0">
                <a:latin typeface="+mn-ea"/>
              </a:rPr>
              <a:t>2</a:t>
            </a:r>
            <a:r>
              <a:rPr kumimoji="1" lang="zh-CN" altLang="en-US" sz="2400" dirty="0" smtClean="0">
                <a:latin typeface="+mn-ea"/>
              </a:rPr>
              <a:t>、同步异步问题</a:t>
            </a:r>
            <a:endParaRPr kumimoji="1" lang="zh-CN" altLang="en-US" sz="2400" dirty="0">
              <a:latin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136" y="2353366"/>
            <a:ext cx="8026400" cy="190500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961136" y="4401312"/>
            <a:ext cx="28087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 smtClean="0">
                <a:latin typeface="+mn-ea"/>
              </a:rPr>
              <a:t>3</a:t>
            </a:r>
            <a:r>
              <a:rPr kumimoji="1" lang="zh-CN" altLang="en-US" sz="2400" dirty="0" smtClean="0">
                <a:latin typeface="+mn-ea"/>
              </a:rPr>
              <a:t>、二进制数据问题</a:t>
            </a:r>
            <a:endParaRPr kumimoji="1" lang="zh-CN" altLang="en-US" sz="2400" dirty="0">
              <a:latin typeface="+mn-ea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136" y="5005923"/>
            <a:ext cx="6273800" cy="59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8287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59003"/>
          </a:xfrm>
        </p:spPr>
        <p:txBody>
          <a:bodyPr>
            <a:normAutofit/>
          </a:bodyPr>
          <a:lstStyle/>
          <a:p>
            <a:r>
              <a:rPr kumimoji="1" lang="zh-CN" altLang="en-US" sz="3200" b="1" dirty="0" smtClean="0">
                <a:latin typeface="+mj-ea"/>
              </a:rPr>
              <a:t>编写</a:t>
            </a:r>
            <a:r>
              <a:rPr kumimoji="1" lang="en-US" altLang="zh-CN" sz="3200" b="1" dirty="0" smtClean="0">
                <a:latin typeface="+mj-ea"/>
              </a:rPr>
              <a:t>plugin</a:t>
            </a:r>
            <a:endParaRPr kumimoji="1" lang="zh-CN" altLang="en-US" sz="3200" b="1" dirty="0">
              <a:latin typeface="+mj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81812" y="1146048"/>
            <a:ext cx="105156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 err="1">
                <a:solidFill>
                  <a:srgbClr val="333333"/>
                </a:solidFill>
                <a:latin typeface="+mn-ea"/>
              </a:rPr>
              <a:t>Webpack</a:t>
            </a:r>
            <a:r>
              <a:rPr lang="en-US" altLang="zh-CN" sz="2400" dirty="0">
                <a:solidFill>
                  <a:srgbClr val="333333"/>
                </a:solidFill>
                <a:latin typeface="+mn-ea"/>
              </a:rPr>
              <a:t> </a:t>
            </a:r>
            <a:r>
              <a:rPr lang="zh-CN" altLang="en-US" sz="2400" dirty="0">
                <a:solidFill>
                  <a:srgbClr val="333333"/>
                </a:solidFill>
                <a:latin typeface="+mn-ea"/>
              </a:rPr>
              <a:t>通过 </a:t>
            </a:r>
            <a:r>
              <a:rPr lang="en-US" altLang="zh-CN" sz="2400" dirty="0">
                <a:solidFill>
                  <a:srgbClr val="333333"/>
                </a:solidFill>
                <a:latin typeface="+mn-ea"/>
              </a:rPr>
              <a:t>Plugin </a:t>
            </a:r>
            <a:r>
              <a:rPr lang="zh-CN" altLang="en-US" sz="2400" dirty="0">
                <a:solidFill>
                  <a:srgbClr val="333333"/>
                </a:solidFill>
                <a:latin typeface="+mn-ea"/>
              </a:rPr>
              <a:t>机制让其更加灵活，以适应各种应用场景。 在 </a:t>
            </a:r>
            <a:r>
              <a:rPr lang="en-US" altLang="zh-CN" sz="2400" dirty="0" err="1">
                <a:solidFill>
                  <a:srgbClr val="333333"/>
                </a:solidFill>
                <a:latin typeface="+mn-ea"/>
              </a:rPr>
              <a:t>Webpack</a:t>
            </a:r>
            <a:r>
              <a:rPr lang="en-US" altLang="zh-CN" sz="2400" dirty="0">
                <a:solidFill>
                  <a:srgbClr val="333333"/>
                </a:solidFill>
                <a:latin typeface="+mn-ea"/>
              </a:rPr>
              <a:t> </a:t>
            </a:r>
            <a:r>
              <a:rPr lang="zh-CN" altLang="en-US" sz="2400" dirty="0">
                <a:solidFill>
                  <a:srgbClr val="333333"/>
                </a:solidFill>
                <a:latin typeface="+mn-ea"/>
              </a:rPr>
              <a:t>运行的生命周期中会广播出许多事件，</a:t>
            </a:r>
            <a:r>
              <a:rPr lang="en-US" altLang="zh-CN" sz="2400" dirty="0">
                <a:solidFill>
                  <a:srgbClr val="333333"/>
                </a:solidFill>
                <a:latin typeface="+mn-ea"/>
              </a:rPr>
              <a:t>Plugin </a:t>
            </a:r>
            <a:r>
              <a:rPr lang="zh-CN" altLang="en-US" sz="2400" dirty="0">
                <a:solidFill>
                  <a:srgbClr val="333333"/>
                </a:solidFill>
                <a:latin typeface="+mn-ea"/>
              </a:rPr>
              <a:t>可以监听这些事件，在合适的时机通过 </a:t>
            </a:r>
            <a:r>
              <a:rPr lang="en-US" altLang="zh-CN" sz="2400" dirty="0" err="1">
                <a:solidFill>
                  <a:srgbClr val="333333"/>
                </a:solidFill>
                <a:latin typeface="+mn-ea"/>
              </a:rPr>
              <a:t>Webpack</a:t>
            </a:r>
            <a:r>
              <a:rPr lang="en-US" altLang="zh-CN" sz="2400" dirty="0">
                <a:solidFill>
                  <a:srgbClr val="333333"/>
                </a:solidFill>
                <a:latin typeface="+mn-ea"/>
              </a:rPr>
              <a:t> </a:t>
            </a:r>
            <a:r>
              <a:rPr lang="zh-CN" altLang="en-US" sz="2400" dirty="0">
                <a:solidFill>
                  <a:srgbClr val="333333"/>
                </a:solidFill>
                <a:latin typeface="+mn-ea"/>
              </a:rPr>
              <a:t>提供的 </a:t>
            </a:r>
            <a:r>
              <a:rPr lang="en-US" altLang="zh-CN" sz="2400" dirty="0">
                <a:solidFill>
                  <a:srgbClr val="333333"/>
                </a:solidFill>
                <a:latin typeface="+mn-ea"/>
              </a:rPr>
              <a:t>API </a:t>
            </a:r>
            <a:r>
              <a:rPr lang="zh-CN" altLang="en-US" sz="2400" dirty="0">
                <a:solidFill>
                  <a:srgbClr val="333333"/>
                </a:solidFill>
                <a:latin typeface="+mn-ea"/>
              </a:rPr>
              <a:t>改变输出结果。</a:t>
            </a:r>
            <a:endParaRPr lang="zh-CN" altLang="en-US" sz="2400" dirty="0">
              <a:latin typeface="+mn-e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781812" y="2468297"/>
            <a:ext cx="1040282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 err="1">
                <a:solidFill>
                  <a:srgbClr val="333333"/>
                </a:solidFill>
                <a:latin typeface="+mn-ea"/>
              </a:rPr>
              <a:t>Webpack</a:t>
            </a:r>
            <a:r>
              <a:rPr lang="en-US" altLang="zh-CN" sz="2400" dirty="0">
                <a:solidFill>
                  <a:srgbClr val="333333"/>
                </a:solidFill>
                <a:latin typeface="+mn-ea"/>
              </a:rPr>
              <a:t> </a:t>
            </a:r>
            <a:r>
              <a:rPr lang="zh-CN" altLang="en-US" sz="2400" dirty="0">
                <a:solidFill>
                  <a:srgbClr val="333333"/>
                </a:solidFill>
                <a:latin typeface="+mn-ea"/>
              </a:rPr>
              <a:t>启动后，在读取配置的过程中会先执行 </a:t>
            </a:r>
            <a:r>
              <a:rPr lang="en-US" altLang="zh-CN" sz="2400" dirty="0">
                <a:latin typeface="+mn-ea"/>
              </a:rPr>
              <a:t>new </a:t>
            </a:r>
            <a:r>
              <a:rPr lang="en-US" altLang="zh-CN" sz="2400" dirty="0" smtClean="0">
                <a:latin typeface="+mn-ea"/>
              </a:rPr>
              <a:t>Plugin(options</a:t>
            </a:r>
            <a:r>
              <a:rPr lang="en-US" altLang="zh-CN" sz="2400" dirty="0">
                <a:latin typeface="+mn-ea"/>
              </a:rPr>
              <a:t>)</a:t>
            </a:r>
            <a:r>
              <a:rPr lang="zh-CN" altLang="en-US" sz="2400" dirty="0">
                <a:solidFill>
                  <a:srgbClr val="333333"/>
                </a:solidFill>
                <a:latin typeface="+mn-ea"/>
              </a:rPr>
              <a:t> 初始化一个 </a:t>
            </a:r>
            <a:r>
              <a:rPr lang="en-US" altLang="zh-CN" sz="2400" dirty="0" smtClean="0">
                <a:solidFill>
                  <a:srgbClr val="333333"/>
                </a:solidFill>
                <a:latin typeface="+mn-ea"/>
              </a:rPr>
              <a:t>Plugin </a:t>
            </a:r>
            <a:r>
              <a:rPr lang="zh-CN" altLang="en-US" sz="2400" dirty="0">
                <a:solidFill>
                  <a:srgbClr val="333333"/>
                </a:solidFill>
                <a:latin typeface="+mn-ea"/>
              </a:rPr>
              <a:t>获得其实例。 在初始化 </a:t>
            </a:r>
            <a:r>
              <a:rPr lang="en-US" altLang="zh-CN" sz="2400" dirty="0">
                <a:solidFill>
                  <a:srgbClr val="333333"/>
                </a:solidFill>
                <a:latin typeface="+mn-ea"/>
              </a:rPr>
              <a:t>compiler </a:t>
            </a:r>
            <a:r>
              <a:rPr lang="zh-CN" altLang="en-US" sz="2400" dirty="0">
                <a:solidFill>
                  <a:srgbClr val="333333"/>
                </a:solidFill>
                <a:latin typeface="+mn-ea"/>
              </a:rPr>
              <a:t>对象后，再调用 </a:t>
            </a:r>
            <a:r>
              <a:rPr lang="en-US" altLang="zh-CN" sz="2400" dirty="0" err="1" smtClean="0">
                <a:latin typeface="+mn-ea"/>
              </a:rPr>
              <a:t>Plugin.apply</a:t>
            </a:r>
            <a:r>
              <a:rPr lang="en-US" altLang="zh-CN" sz="2400" dirty="0" smtClean="0">
                <a:latin typeface="+mn-ea"/>
              </a:rPr>
              <a:t>(compiler</a:t>
            </a:r>
            <a:r>
              <a:rPr lang="en-US" altLang="zh-CN" sz="2400" dirty="0">
                <a:latin typeface="+mn-ea"/>
              </a:rPr>
              <a:t>)</a:t>
            </a:r>
            <a:r>
              <a:rPr lang="zh-CN" altLang="en-US" sz="2400" dirty="0">
                <a:solidFill>
                  <a:srgbClr val="333333"/>
                </a:solidFill>
                <a:latin typeface="+mn-ea"/>
              </a:rPr>
              <a:t> 给插件实例传入 </a:t>
            </a:r>
            <a:r>
              <a:rPr lang="en-US" altLang="zh-CN" sz="2400" dirty="0">
                <a:solidFill>
                  <a:srgbClr val="333333"/>
                </a:solidFill>
                <a:latin typeface="+mn-ea"/>
              </a:rPr>
              <a:t>compiler </a:t>
            </a:r>
            <a:r>
              <a:rPr lang="zh-CN" altLang="en-US" sz="2400" dirty="0">
                <a:solidFill>
                  <a:srgbClr val="333333"/>
                </a:solidFill>
                <a:latin typeface="+mn-ea"/>
              </a:rPr>
              <a:t>对象。 插件实例在获取到 </a:t>
            </a:r>
            <a:r>
              <a:rPr lang="en-US" altLang="zh-CN" sz="2400" dirty="0">
                <a:solidFill>
                  <a:srgbClr val="333333"/>
                </a:solidFill>
                <a:latin typeface="+mn-ea"/>
              </a:rPr>
              <a:t>compiler </a:t>
            </a:r>
            <a:r>
              <a:rPr lang="zh-CN" altLang="en-US" sz="2400" dirty="0">
                <a:solidFill>
                  <a:srgbClr val="333333"/>
                </a:solidFill>
                <a:latin typeface="+mn-ea"/>
              </a:rPr>
              <a:t>对象后，就可以通过 </a:t>
            </a:r>
            <a:r>
              <a:rPr lang="en-US" altLang="zh-CN" sz="2400" dirty="0" err="1" smtClean="0">
                <a:latin typeface="+mn-ea"/>
              </a:rPr>
              <a:t>compiler.hooks.eventName.tapAsync</a:t>
            </a:r>
            <a:r>
              <a:rPr lang="en-US" altLang="zh-CN" sz="2400" dirty="0" smtClean="0">
                <a:latin typeface="+mn-ea"/>
              </a:rPr>
              <a:t>(’xxx’,</a:t>
            </a:r>
            <a:r>
              <a:rPr lang="zh-CN" altLang="en-US" sz="2400" dirty="0" smtClean="0">
                <a:latin typeface="+mn-ea"/>
              </a:rPr>
              <a:t>回调</a:t>
            </a:r>
            <a:r>
              <a:rPr lang="zh-CN" altLang="en-US" sz="2400" dirty="0">
                <a:latin typeface="+mn-ea"/>
              </a:rPr>
              <a:t>函数</a:t>
            </a:r>
            <a:r>
              <a:rPr lang="en-US" altLang="zh-CN" sz="2400" dirty="0">
                <a:latin typeface="+mn-ea"/>
              </a:rPr>
              <a:t>)</a:t>
            </a:r>
            <a:r>
              <a:rPr lang="zh-CN" altLang="en-US" sz="2400" dirty="0">
                <a:solidFill>
                  <a:srgbClr val="333333"/>
                </a:solidFill>
                <a:latin typeface="+mn-ea"/>
              </a:rPr>
              <a:t> 监听到 </a:t>
            </a:r>
            <a:r>
              <a:rPr lang="en-US" altLang="zh-CN" sz="2400" dirty="0" err="1">
                <a:solidFill>
                  <a:srgbClr val="333333"/>
                </a:solidFill>
                <a:latin typeface="+mn-ea"/>
              </a:rPr>
              <a:t>Webpack</a:t>
            </a:r>
            <a:r>
              <a:rPr lang="en-US" altLang="zh-CN" sz="2400" dirty="0">
                <a:solidFill>
                  <a:srgbClr val="333333"/>
                </a:solidFill>
                <a:latin typeface="+mn-ea"/>
              </a:rPr>
              <a:t> </a:t>
            </a:r>
            <a:r>
              <a:rPr lang="zh-CN" altLang="en-US" sz="2400" dirty="0">
                <a:solidFill>
                  <a:srgbClr val="333333"/>
                </a:solidFill>
                <a:latin typeface="+mn-ea"/>
              </a:rPr>
              <a:t>广播出来的事件。 并且可以通过 </a:t>
            </a:r>
            <a:r>
              <a:rPr lang="en-US" altLang="zh-CN" sz="2400" dirty="0">
                <a:solidFill>
                  <a:srgbClr val="333333"/>
                </a:solidFill>
                <a:latin typeface="+mn-ea"/>
              </a:rPr>
              <a:t>compiler </a:t>
            </a:r>
            <a:r>
              <a:rPr lang="zh-CN" altLang="en-US" sz="2400" dirty="0">
                <a:solidFill>
                  <a:srgbClr val="333333"/>
                </a:solidFill>
                <a:latin typeface="+mn-ea"/>
              </a:rPr>
              <a:t>对象去操作 </a:t>
            </a:r>
            <a:r>
              <a:rPr lang="en-US" altLang="zh-CN" sz="2400" dirty="0" err="1">
                <a:solidFill>
                  <a:srgbClr val="333333"/>
                </a:solidFill>
                <a:latin typeface="+mn-ea"/>
              </a:rPr>
              <a:t>Webpack</a:t>
            </a:r>
            <a:r>
              <a:rPr lang="zh-CN" altLang="en-US" sz="2400" dirty="0">
                <a:solidFill>
                  <a:srgbClr val="333333"/>
                </a:solidFill>
                <a:latin typeface="+mn-ea"/>
              </a:rPr>
              <a:t>。</a:t>
            </a:r>
            <a:endParaRPr lang="zh-CN" altLang="en-US" sz="2400" dirty="0">
              <a:latin typeface="+mn-ea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9760" y="1409057"/>
            <a:ext cx="7620000" cy="5049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8876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255" y="258431"/>
            <a:ext cx="7766305" cy="5398061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9010" y="4323754"/>
            <a:ext cx="7023100" cy="232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41187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2427"/>
          </a:xfrm>
        </p:spPr>
        <p:txBody>
          <a:bodyPr>
            <a:normAutofit/>
          </a:bodyPr>
          <a:lstStyle/>
          <a:p>
            <a:r>
              <a:rPr kumimoji="1" lang="zh-CN" altLang="en-US" sz="3200" b="1" dirty="0" smtClean="0">
                <a:latin typeface="+mj-ea"/>
              </a:rPr>
              <a:t>插件机制</a:t>
            </a:r>
            <a:endParaRPr kumimoji="1" lang="zh-CN" altLang="en-US" sz="3200" b="1" dirty="0">
              <a:latin typeface="+mj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38200" y="1121664"/>
            <a:ext cx="31165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 smtClean="0">
                <a:latin typeface="+mn-ea"/>
              </a:rPr>
              <a:t>1</a:t>
            </a:r>
            <a:r>
              <a:rPr kumimoji="1" lang="zh-CN" altLang="en-US" sz="2400" dirty="0" smtClean="0">
                <a:latin typeface="+mn-ea"/>
              </a:rPr>
              <a:t>、观察者订阅者模式</a:t>
            </a:r>
            <a:endParaRPr kumimoji="1" lang="zh-CN" altLang="en-US" sz="2400" dirty="0">
              <a:latin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38200" y="2189279"/>
            <a:ext cx="41024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 smtClean="0">
                <a:latin typeface="+mn-ea"/>
              </a:rPr>
              <a:t>2</a:t>
            </a:r>
            <a:r>
              <a:rPr kumimoji="1" lang="zh-CN" altLang="en-US" sz="2400" dirty="0" smtClean="0">
                <a:latin typeface="+mn-ea"/>
              </a:rPr>
              <a:t>、事件流核心依赖库</a:t>
            </a:r>
            <a:r>
              <a:rPr kumimoji="1" lang="en-US" altLang="zh-CN" sz="2400" dirty="0" err="1" smtClean="0">
                <a:latin typeface="+mn-ea"/>
              </a:rPr>
              <a:t>tapable</a:t>
            </a:r>
            <a:endParaRPr kumimoji="1" lang="zh-CN" altLang="en-US" sz="2400" dirty="0">
              <a:latin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838200" y="2785056"/>
            <a:ext cx="1090117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 smtClean="0">
                <a:latin typeface="+mn-ea"/>
              </a:rPr>
              <a:t>3</a:t>
            </a:r>
            <a:r>
              <a:rPr kumimoji="1" lang="zh-CN" altLang="en-US" sz="2400" dirty="0" smtClean="0">
                <a:latin typeface="+mn-ea"/>
              </a:rPr>
              <a:t>、</a:t>
            </a:r>
            <a:r>
              <a:rPr lang="it-IT" altLang="zh-CN" sz="2400" dirty="0">
                <a:latin typeface="+mn-ea"/>
              </a:rPr>
              <a:t> Compiler </a:t>
            </a:r>
            <a:r>
              <a:rPr lang="zh-CN" altLang="it-IT" sz="2400" dirty="0">
                <a:latin typeface="+mn-ea"/>
              </a:rPr>
              <a:t>和 </a:t>
            </a:r>
            <a:r>
              <a:rPr lang="it-IT" altLang="zh-CN" sz="2400" dirty="0" smtClean="0">
                <a:latin typeface="+mn-ea"/>
              </a:rPr>
              <a:t>Compilation</a:t>
            </a:r>
            <a:endParaRPr lang="it-IT" altLang="zh-CN" sz="2400" dirty="0">
              <a:latin typeface="+mn-ea"/>
            </a:endParaRPr>
          </a:p>
          <a:p>
            <a:r>
              <a:rPr lang="zh-CN" altLang="en-US" sz="2400" dirty="0">
                <a:latin typeface="+mn-ea"/>
              </a:rPr>
              <a:t> </a:t>
            </a:r>
            <a:r>
              <a:rPr lang="zh-CN" altLang="en-US" sz="2400" dirty="0" smtClean="0">
                <a:latin typeface="+mn-ea"/>
              </a:rPr>
              <a:t>   </a:t>
            </a:r>
            <a:r>
              <a:rPr lang="en-US" altLang="zh-CN" sz="2400" dirty="0" smtClean="0">
                <a:latin typeface="+mn-ea"/>
              </a:rPr>
              <a:t>Compiler </a:t>
            </a:r>
            <a:r>
              <a:rPr lang="zh-CN" altLang="en-US" sz="2400" dirty="0">
                <a:latin typeface="+mn-ea"/>
              </a:rPr>
              <a:t>对象包含了 </a:t>
            </a:r>
            <a:r>
              <a:rPr lang="en-US" altLang="zh-CN" sz="2400" dirty="0" err="1">
                <a:latin typeface="+mn-ea"/>
              </a:rPr>
              <a:t>Webpack</a:t>
            </a:r>
            <a:r>
              <a:rPr lang="en-US" altLang="zh-CN" sz="2400" dirty="0">
                <a:latin typeface="+mn-ea"/>
              </a:rPr>
              <a:t> </a:t>
            </a:r>
            <a:r>
              <a:rPr lang="zh-CN" altLang="en-US" sz="2400" dirty="0">
                <a:latin typeface="+mn-ea"/>
              </a:rPr>
              <a:t>环境所有的的配置信息，包含 </a:t>
            </a:r>
            <a:r>
              <a:rPr lang="en-US" altLang="zh-CN" sz="2400" dirty="0">
                <a:latin typeface="+mn-ea"/>
              </a:rPr>
              <a:t>options</a:t>
            </a:r>
            <a:r>
              <a:rPr lang="zh-CN" altLang="en-US" sz="2400" dirty="0">
                <a:latin typeface="+mn-ea"/>
              </a:rPr>
              <a:t>，</a:t>
            </a:r>
            <a:r>
              <a:rPr lang="en-US" altLang="zh-CN" sz="2400" dirty="0">
                <a:latin typeface="+mn-ea"/>
              </a:rPr>
              <a:t>loaders</a:t>
            </a:r>
            <a:r>
              <a:rPr lang="zh-CN" altLang="en-US" sz="2400" dirty="0">
                <a:latin typeface="+mn-ea"/>
              </a:rPr>
              <a:t>，</a:t>
            </a:r>
            <a:r>
              <a:rPr lang="en-US" altLang="zh-CN" sz="2400" dirty="0">
                <a:latin typeface="+mn-ea"/>
              </a:rPr>
              <a:t>plugins </a:t>
            </a:r>
            <a:r>
              <a:rPr lang="zh-CN" altLang="en-US" sz="2400" dirty="0">
                <a:latin typeface="+mn-ea"/>
              </a:rPr>
              <a:t>这些信息，这个对象在 </a:t>
            </a:r>
            <a:r>
              <a:rPr lang="en-US" altLang="zh-CN" sz="2400" dirty="0" err="1">
                <a:latin typeface="+mn-ea"/>
              </a:rPr>
              <a:t>Webpack</a:t>
            </a:r>
            <a:r>
              <a:rPr lang="en-US" altLang="zh-CN" sz="2400" dirty="0">
                <a:latin typeface="+mn-ea"/>
              </a:rPr>
              <a:t> </a:t>
            </a:r>
            <a:r>
              <a:rPr lang="zh-CN" altLang="en-US" sz="2400" dirty="0">
                <a:latin typeface="+mn-ea"/>
              </a:rPr>
              <a:t>启动时候被实例化，它是全局唯一的，可以简单地把它理解为 </a:t>
            </a:r>
            <a:r>
              <a:rPr lang="en-US" altLang="zh-CN" sz="2400" dirty="0" err="1">
                <a:latin typeface="+mn-ea"/>
              </a:rPr>
              <a:t>Webpack</a:t>
            </a:r>
            <a:r>
              <a:rPr lang="en-US" altLang="zh-CN" sz="2400" dirty="0">
                <a:latin typeface="+mn-ea"/>
              </a:rPr>
              <a:t> </a:t>
            </a:r>
            <a:r>
              <a:rPr lang="zh-CN" altLang="en-US" sz="2400" dirty="0" smtClean="0">
                <a:latin typeface="+mn-ea"/>
              </a:rPr>
              <a:t>实例</a:t>
            </a:r>
            <a:endParaRPr lang="en-US" altLang="zh-CN" sz="2400" dirty="0" smtClean="0">
              <a:latin typeface="+mn-ea"/>
            </a:endParaRPr>
          </a:p>
          <a:p>
            <a:r>
              <a:rPr lang="zh-CN" altLang="en-US" sz="2400" dirty="0" smtClean="0"/>
              <a:t>    </a:t>
            </a:r>
            <a:r>
              <a:rPr lang="en-US" altLang="zh-CN" sz="2400" dirty="0" smtClean="0"/>
              <a:t>Compilation </a:t>
            </a:r>
            <a:r>
              <a:rPr lang="zh-CN" altLang="en-US" sz="2400" dirty="0"/>
              <a:t>对象包含了当前的模块资源、编译生成资源、变化的文件等。当 </a:t>
            </a:r>
            <a:r>
              <a:rPr lang="en-US" altLang="zh-CN" sz="2400" dirty="0" err="1"/>
              <a:t>Webpack</a:t>
            </a:r>
            <a:r>
              <a:rPr lang="en-US" altLang="zh-CN" sz="2400" dirty="0"/>
              <a:t> </a:t>
            </a:r>
            <a:r>
              <a:rPr lang="zh-CN" altLang="en-US" sz="2400" dirty="0"/>
              <a:t>以开发模式运行时，每当检测到一个文件变化，一次新的 </a:t>
            </a:r>
            <a:r>
              <a:rPr lang="en-US" altLang="zh-CN" sz="2400" dirty="0"/>
              <a:t>Compilation </a:t>
            </a:r>
            <a:r>
              <a:rPr lang="zh-CN" altLang="en-US" sz="2400" dirty="0"/>
              <a:t>将被创建。</a:t>
            </a:r>
            <a:r>
              <a:rPr lang="en-US" altLang="zh-CN" sz="2400" dirty="0"/>
              <a:t>Compilation </a:t>
            </a:r>
            <a:r>
              <a:rPr lang="zh-CN" altLang="en-US" sz="2400" dirty="0"/>
              <a:t>对象也提供了很多事件回调供插件做扩展。通过 </a:t>
            </a:r>
            <a:r>
              <a:rPr lang="en-US" altLang="zh-CN" sz="2400" dirty="0"/>
              <a:t>Compilation </a:t>
            </a:r>
            <a:r>
              <a:rPr lang="zh-CN" altLang="en-US" sz="2400" dirty="0"/>
              <a:t>也能读取到 </a:t>
            </a:r>
            <a:r>
              <a:rPr lang="en-US" altLang="zh-CN" sz="2400" dirty="0"/>
              <a:t>Compiler </a:t>
            </a:r>
            <a:r>
              <a:rPr lang="zh-CN" altLang="en-US" sz="2400" dirty="0" smtClean="0"/>
              <a:t>对象</a:t>
            </a:r>
            <a:endParaRPr lang="en-US" altLang="zh-CN" sz="2400" dirty="0" smtClean="0"/>
          </a:p>
          <a:p>
            <a:r>
              <a:rPr lang="zh-CN" altLang="en-US" sz="2400" dirty="0" smtClean="0"/>
              <a:t>    </a:t>
            </a:r>
            <a:r>
              <a:rPr lang="en-US" altLang="zh-CN" sz="2400" dirty="0" smtClean="0"/>
              <a:t>Compiler </a:t>
            </a:r>
            <a:r>
              <a:rPr lang="zh-CN" altLang="en-US" sz="2400" dirty="0"/>
              <a:t>和 </a:t>
            </a:r>
            <a:r>
              <a:rPr lang="en-US" altLang="zh-CN" sz="2400" dirty="0"/>
              <a:t>Compilation </a:t>
            </a:r>
            <a:r>
              <a:rPr lang="zh-CN" altLang="en-US" sz="2400" dirty="0"/>
              <a:t>的区别在于：</a:t>
            </a:r>
            <a:r>
              <a:rPr lang="en-US" altLang="zh-CN" sz="2400" dirty="0"/>
              <a:t>Compiler </a:t>
            </a:r>
            <a:r>
              <a:rPr lang="zh-CN" altLang="en-US" sz="2400" dirty="0"/>
              <a:t>代表了整个 </a:t>
            </a:r>
            <a:r>
              <a:rPr lang="en-US" altLang="zh-CN" sz="2400" dirty="0" err="1"/>
              <a:t>Webpack</a:t>
            </a:r>
            <a:r>
              <a:rPr lang="en-US" altLang="zh-CN" sz="2400" dirty="0"/>
              <a:t> </a:t>
            </a:r>
            <a:r>
              <a:rPr lang="zh-CN" altLang="en-US" sz="2400" dirty="0"/>
              <a:t>从启动到关闭的生命周期，而 </a:t>
            </a:r>
            <a:r>
              <a:rPr lang="en-US" altLang="zh-CN" sz="2400" dirty="0"/>
              <a:t>Compilation </a:t>
            </a:r>
            <a:r>
              <a:rPr lang="zh-CN" altLang="en-US" sz="2400" dirty="0"/>
              <a:t>只是代表了一次新的编译。</a:t>
            </a:r>
            <a:endParaRPr lang="it-IT" altLang="zh-CN" sz="2400" dirty="0" smtClean="0">
              <a:latin typeface="+mn-ea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9400" y="1121664"/>
            <a:ext cx="5994400" cy="149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1224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626</TotalTime>
  <Words>524</Words>
  <Application>Microsoft Macintosh PowerPoint</Application>
  <PresentationFormat>宽屏</PresentationFormat>
  <Paragraphs>76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0" baseType="lpstr">
      <vt:lpstr>Arial</vt:lpstr>
      <vt:lpstr>DengXian</vt:lpstr>
      <vt:lpstr>DengXian Light</vt:lpstr>
      <vt:lpstr>Office 主题</vt:lpstr>
      <vt:lpstr>webpack</vt:lpstr>
      <vt:lpstr>初始化阶段</vt:lpstr>
      <vt:lpstr>参数配置介绍</vt:lpstr>
      <vt:lpstr>mode</vt:lpstr>
      <vt:lpstr>PowerPoint 演示文稿</vt:lpstr>
      <vt:lpstr>module</vt:lpstr>
      <vt:lpstr>plugins</vt:lpstr>
      <vt:lpstr>optimization</vt:lpstr>
      <vt:lpstr>常见配置总结</vt:lpstr>
      <vt:lpstr>编译阶段</vt:lpstr>
      <vt:lpstr>输出阶段</vt:lpstr>
      <vt:lpstr>编写loader</vt:lpstr>
      <vt:lpstr>编写loader的注意点</vt:lpstr>
      <vt:lpstr>编写plugin</vt:lpstr>
      <vt:lpstr>PowerPoint 演示文稿</vt:lpstr>
      <vt:lpstr>插件机制</vt:lpstr>
    </vt:vector>
  </TitlesOfParts>
  <Company/>
  <LinksUpToDate>false</LinksUpToDate>
  <SharedDoc>false</SharedDoc>
  <HyperlinksChanged>false</HyperlinksChanged>
  <AppVersion>15.0037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webpack</dc:title>
  <dc:creator>Microsoft Office 用户</dc:creator>
  <cp:lastModifiedBy>Microsoft Office 用户</cp:lastModifiedBy>
  <cp:revision>30</cp:revision>
  <dcterms:created xsi:type="dcterms:W3CDTF">2020-05-18T07:35:22Z</dcterms:created>
  <dcterms:modified xsi:type="dcterms:W3CDTF">2021-01-28T06:37:58Z</dcterms:modified>
</cp:coreProperties>
</file>